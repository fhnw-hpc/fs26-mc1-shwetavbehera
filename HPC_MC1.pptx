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4" r:id="rId6"/>
    <p:sldId id="260" r:id="rId7"/>
    <p:sldId id="265" r:id="rId8"/>
    <p:sldId id="262" r:id="rId9"/>
    <p:sldId id="266" r:id="rId10"/>
    <p:sldId id="267" r:id="rId11"/>
    <p:sldId id="268" r:id="rId12"/>
    <p:sldId id="269" r:id="rId13"/>
    <p:sldId id="272" r:id="rId14"/>
    <p:sldId id="273" r:id="rId15"/>
    <p:sldId id="270" r:id="rId16"/>
    <p:sldId id="271" r:id="rId17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0A2070-5A3A-4F73-82D5-B0A4C0142983}" v="3" dt="2026-04-21T11:01:09.5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79005" autoAdjust="0"/>
  </p:normalViewPr>
  <p:slideViewPr>
    <p:cSldViewPr snapToGrid="0">
      <p:cViewPr>
        <p:scale>
          <a:sx n="150" d="100"/>
          <a:sy n="150" d="100"/>
        </p:scale>
        <p:origin x="624" y="-10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wetav Behera" userId="972837c5e7c14fc4" providerId="LiveId" clId="{356DE455-539E-4C4A-A44E-D735BD7F8C17}"/>
    <pc:docChg chg="custSel modSld sldOrd">
      <pc:chgData name="Shwetav Behera" userId="972837c5e7c14fc4" providerId="LiveId" clId="{356DE455-539E-4C4A-A44E-D735BD7F8C17}" dt="2026-04-21T11:02:52.863" v="249" actId="20577"/>
      <pc:docMkLst>
        <pc:docMk/>
      </pc:docMkLst>
      <pc:sldChg chg="modSp mod">
        <pc:chgData name="Shwetav Behera" userId="972837c5e7c14fc4" providerId="LiveId" clId="{356DE455-539E-4C4A-A44E-D735BD7F8C17}" dt="2026-04-21T11:02:52.863" v="249" actId="20577"/>
        <pc:sldMkLst>
          <pc:docMk/>
          <pc:sldMk cId="3650834177" sldId="256"/>
        </pc:sldMkLst>
        <pc:spChg chg="mod">
          <ac:chgData name="Shwetav Behera" userId="972837c5e7c14fc4" providerId="LiveId" clId="{356DE455-539E-4C4A-A44E-D735BD7F8C17}" dt="2026-04-21T11:02:52.863" v="249" actId="20577"/>
          <ac:spMkLst>
            <pc:docMk/>
            <pc:sldMk cId="3650834177" sldId="256"/>
            <ac:spMk id="3" creationId="{4AF6A5E0-B0C0-17BD-2F9F-CB76BE2A2110}"/>
          </ac:spMkLst>
        </pc:spChg>
      </pc:sldChg>
      <pc:sldChg chg="modSp mod">
        <pc:chgData name="Shwetav Behera" userId="972837c5e7c14fc4" providerId="LiveId" clId="{356DE455-539E-4C4A-A44E-D735BD7F8C17}" dt="2026-04-21T10:55:24.762" v="0" actId="1076"/>
        <pc:sldMkLst>
          <pc:docMk/>
          <pc:sldMk cId="1820305367" sldId="269"/>
        </pc:sldMkLst>
        <pc:spChg chg="mod">
          <ac:chgData name="Shwetav Behera" userId="972837c5e7c14fc4" providerId="LiveId" clId="{356DE455-539E-4C4A-A44E-D735BD7F8C17}" dt="2026-04-21T10:55:24.762" v="0" actId="1076"/>
          <ac:spMkLst>
            <pc:docMk/>
            <pc:sldMk cId="1820305367" sldId="269"/>
            <ac:spMk id="5" creationId="{9CFB7AAB-677A-BDD4-AD2F-AFC095ACAF37}"/>
          </ac:spMkLst>
        </pc:spChg>
      </pc:sldChg>
      <pc:sldChg chg="addSp delSp modSp mod ord">
        <pc:chgData name="Shwetav Behera" userId="972837c5e7c14fc4" providerId="LiveId" clId="{356DE455-539E-4C4A-A44E-D735BD7F8C17}" dt="2026-04-21T11:00:37.801" v="145"/>
        <pc:sldMkLst>
          <pc:docMk/>
          <pc:sldMk cId="465637521" sldId="270"/>
        </pc:sldMkLst>
        <pc:spChg chg="mod">
          <ac:chgData name="Shwetav Behera" userId="972837c5e7c14fc4" providerId="LiveId" clId="{356DE455-539E-4C4A-A44E-D735BD7F8C17}" dt="2026-04-21T10:57:04.289" v="19" actId="20577"/>
          <ac:spMkLst>
            <pc:docMk/>
            <pc:sldMk cId="465637521" sldId="270"/>
            <ac:spMk id="2" creationId="{04AFBCE2-1601-579C-5C1D-03E4DAE3DA31}"/>
          </ac:spMkLst>
        </pc:spChg>
        <pc:spChg chg="add del mod">
          <ac:chgData name="Shwetav Behera" userId="972837c5e7c14fc4" providerId="LiveId" clId="{356DE455-539E-4C4A-A44E-D735BD7F8C17}" dt="2026-04-21T10:56:53.887" v="2" actId="22"/>
          <ac:spMkLst>
            <pc:docMk/>
            <pc:sldMk cId="465637521" sldId="270"/>
            <ac:spMk id="7" creationId="{E849E864-EB7B-6BAB-9611-AEA60875BA1A}"/>
          </ac:spMkLst>
        </pc:spChg>
        <pc:spChg chg="add mod">
          <ac:chgData name="Shwetav Behera" userId="972837c5e7c14fc4" providerId="LiveId" clId="{356DE455-539E-4C4A-A44E-D735BD7F8C17}" dt="2026-04-21T10:59:22.836" v="141" actId="1076"/>
          <ac:spMkLst>
            <pc:docMk/>
            <pc:sldMk cId="465637521" sldId="270"/>
            <ac:spMk id="10" creationId="{E87261AE-2029-C594-3188-6262E59C7E13}"/>
          </ac:spMkLst>
        </pc:spChg>
        <pc:picChg chg="del">
          <ac:chgData name="Shwetav Behera" userId="972837c5e7c14fc4" providerId="LiveId" clId="{356DE455-539E-4C4A-A44E-D735BD7F8C17}" dt="2026-04-21T10:56:52.373" v="1" actId="478"/>
          <ac:picMkLst>
            <pc:docMk/>
            <pc:sldMk cId="465637521" sldId="270"/>
            <ac:picMk id="5" creationId="{34DF9767-502D-B697-B2E8-F1D708142697}"/>
          </ac:picMkLst>
        </pc:picChg>
        <pc:picChg chg="add mod ord">
          <ac:chgData name="Shwetav Behera" userId="972837c5e7c14fc4" providerId="LiveId" clId="{356DE455-539E-4C4A-A44E-D735BD7F8C17}" dt="2026-04-21T10:56:58.174" v="4" actId="1076"/>
          <ac:picMkLst>
            <pc:docMk/>
            <pc:sldMk cId="465637521" sldId="270"/>
            <ac:picMk id="9" creationId="{B517011D-C928-EBA2-02C7-174209A3B992}"/>
          </ac:picMkLst>
        </pc:picChg>
      </pc:sldChg>
      <pc:sldChg chg="addSp delSp modSp mod">
        <pc:chgData name="Shwetav Behera" userId="972837c5e7c14fc4" providerId="LiveId" clId="{356DE455-539E-4C4A-A44E-D735BD7F8C17}" dt="2026-04-21T11:02:17.456" v="235" actId="1076"/>
        <pc:sldMkLst>
          <pc:docMk/>
          <pc:sldMk cId="3183820238" sldId="271"/>
        </pc:sldMkLst>
        <pc:spChg chg="add del mod">
          <ac:chgData name="Shwetav Behera" userId="972837c5e7c14fc4" providerId="LiveId" clId="{356DE455-539E-4C4A-A44E-D735BD7F8C17}" dt="2026-04-21T11:00:52.067" v="147"/>
          <ac:spMkLst>
            <pc:docMk/>
            <pc:sldMk cId="3183820238" sldId="271"/>
            <ac:spMk id="10" creationId="{2B371265-B1FB-9C1C-9434-6072CA66AFA0}"/>
          </ac:spMkLst>
        </pc:spChg>
        <pc:spChg chg="add mod">
          <ac:chgData name="Shwetav Behera" userId="972837c5e7c14fc4" providerId="LiveId" clId="{356DE455-539E-4C4A-A44E-D735BD7F8C17}" dt="2026-04-21T11:02:17.456" v="235" actId="1076"/>
          <ac:spMkLst>
            <pc:docMk/>
            <pc:sldMk cId="3183820238" sldId="271"/>
            <ac:spMk id="12" creationId="{2F1CB019-4D02-99DF-00CC-1A8309EEC128}"/>
          </ac:spMkLst>
        </pc:spChg>
        <pc:picChg chg="del">
          <ac:chgData name="Shwetav Behera" userId="972837c5e7c14fc4" providerId="LiveId" clId="{356DE455-539E-4C4A-A44E-D735BD7F8C17}" dt="2026-04-21T11:00:50.194" v="146" actId="478"/>
          <ac:picMkLst>
            <pc:docMk/>
            <pc:sldMk cId="3183820238" sldId="271"/>
            <ac:picMk id="8" creationId="{280A8626-FFFD-4FE7-943E-DD353516C7DA}"/>
          </ac:picMkLst>
        </pc:picChg>
        <pc:picChg chg="add mod">
          <ac:chgData name="Shwetav Behera" userId="972837c5e7c14fc4" providerId="LiveId" clId="{356DE455-539E-4C4A-A44E-D735BD7F8C17}" dt="2026-04-21T11:00:57.311" v="150" actId="1076"/>
          <ac:picMkLst>
            <pc:docMk/>
            <pc:sldMk cId="3183820238" sldId="271"/>
            <ac:picMk id="11" creationId="{FEB47401-DA64-AA6A-9421-51C5123B4C2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70AAC7-D6FD-4DD0-8DA5-634E6164A91D}" type="datetimeFigureOut">
              <a:rPr lang="en-CH" smtClean="0"/>
              <a:t>21.04.2026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CE4A03-BE3D-405F-A11D-E2DC3FE51E68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61973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A03-BE3D-405F-A11D-E2DC3FE51E68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46486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A03-BE3D-405F-A11D-E2DC3FE51E68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16737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A03-BE3D-405F-A11D-E2DC3FE51E68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2179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21042-C95D-3C96-8B17-1BC1D40C6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C9296-7972-A138-AC8B-A7FD97727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08B1A-CF00-3399-1C1A-F4C7AE485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AE8D0B-882C-4F8E-4F6B-7689CB023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A03-BE3D-405F-A11D-E2DC3FE51E68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3175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CE4A03-BE3D-405F-A11D-E2DC3FE51E68}" type="slidenum">
              <a:rPr lang="en-CH" smtClean="0"/>
              <a:t>12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94983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239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105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9572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48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91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82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3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75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03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754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38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407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Close-up of circuit board">
            <a:extLst>
              <a:ext uri="{FF2B5EF4-FFF2-40B4-BE49-F238E27FC236}">
                <a16:creationId xmlns:a16="http://schemas.microsoft.com/office/drawing/2014/main" id="{6BA3860F-24C5-FF90-C67D-3A56145CFD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9B26C-782B-4BC8-B5AD-16B88A32F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4400"/>
              <a:t>HPC MC1</a:t>
            </a:r>
            <a:endParaRPr lang="en-CH" sz="44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6A5E0-B0C0-17BD-2F9F-CB76BE2A2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/>
          </a:bodyPr>
          <a:lstStyle/>
          <a:p>
            <a:pPr algn="r"/>
            <a:r>
              <a:rPr lang="en-US" sz="1900" dirty="0"/>
              <a:t>Shwetav Behera</a:t>
            </a:r>
            <a:endParaRPr lang="en-CH" sz="1900" dirty="0"/>
          </a:p>
        </p:txBody>
      </p:sp>
    </p:spTree>
    <p:extLst>
      <p:ext uri="{BB962C8B-B14F-4D97-AF65-F5344CB8AC3E}">
        <p14:creationId xmlns:p14="http://schemas.microsoft.com/office/powerpoint/2010/main" val="3650834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E8AC4-10D8-A5A6-25C2-7E0118EC0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71114"/>
          </a:xfrm>
        </p:spPr>
        <p:txBody>
          <a:bodyPr/>
          <a:lstStyle/>
          <a:p>
            <a:r>
              <a:rPr lang="en-US" dirty="0"/>
              <a:t>Problem Statement</a:t>
            </a:r>
            <a:endParaRPr lang="en-CH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9E4CF9-69AB-154A-CF65-6FE134EFAB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6115" y="2428496"/>
            <a:ext cx="3515317" cy="2343545"/>
          </a:xfrm>
          <a:prstGeom prst="rect">
            <a:avLst/>
          </a:prstGeom>
        </p:spPr>
      </p:pic>
      <p:pic>
        <p:nvPicPr>
          <p:cNvPr id="1030" name="Picture 6" descr="Do soaring 'meme stocks' and 'story stocks' signal a warning ...">
            <a:extLst>
              <a:ext uri="{FF2B5EF4-FFF2-40B4-BE49-F238E27FC236}">
                <a16:creationId xmlns:a16="http://schemas.microsoft.com/office/drawing/2014/main" id="{6B2AB88A-BD4C-D31C-A9EA-8E06A3F3D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1" y="2040341"/>
            <a:ext cx="4740322" cy="3292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2127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4287-E474-BD8A-4374-091549B24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Application: Stock news trend tracker</a:t>
            </a:r>
            <a:endParaRPr lang="en-CH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C33F07B-3110-0235-8D99-D96BAE49E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771" y="2213503"/>
            <a:ext cx="5071008" cy="366608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EDF3AB-EBC2-4252-F4B7-0DF59B2E5FC0}"/>
              </a:ext>
            </a:extLst>
          </p:cNvPr>
          <p:cNvSpPr txBox="1"/>
          <p:nvPr/>
        </p:nvSpPr>
        <p:spPr>
          <a:xfrm>
            <a:off x="7124700" y="2720340"/>
            <a:ext cx="42748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/>
              <a:t>Msgpack</a:t>
            </a:r>
            <a:r>
              <a:rPr lang="en-US" dirty="0"/>
              <a:t> as serializer</a:t>
            </a:r>
          </a:p>
          <a:p>
            <a:pPr marL="285750" indent="-285750">
              <a:buFontTx/>
              <a:buChar char="-"/>
            </a:pPr>
            <a:r>
              <a:rPr lang="en-US" dirty="0"/>
              <a:t>CSV sink </a:t>
            </a:r>
            <a:r>
              <a:rPr lang="en-US" dirty="0" err="1"/>
              <a:t>calles</a:t>
            </a:r>
            <a:r>
              <a:rPr lang="en-US" dirty="0"/>
              <a:t> flush() after every row</a:t>
            </a:r>
          </a:p>
          <a:p>
            <a:pPr marL="285750" indent="-285750">
              <a:buFontTx/>
              <a:buChar char="-"/>
            </a:pPr>
            <a:r>
              <a:rPr lang="en-CH" dirty="0"/>
              <a:t>Offset Earliest</a:t>
            </a:r>
            <a:r>
              <a:rPr lang="en-US" dirty="0"/>
              <a:t> (not too much data in stream, so in this case ok to read full topic)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Dockerized</a:t>
            </a:r>
            <a:r>
              <a:rPr lang="en-US" dirty="0"/>
              <a:t> services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658644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0C9A-3BAF-5DA6-2F5B-233CC0AAA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2: Consumer Group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DFB1-2749-9AA5-DE2A-D261CD66E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Fan out (2 Consumer in diff. groups consume from 1 partition)</a:t>
            </a:r>
          </a:p>
          <a:p>
            <a:pPr lvl="1"/>
            <a:r>
              <a:rPr lang="en-US" dirty="0"/>
              <a:t>Load balancing failure</a:t>
            </a:r>
          </a:p>
          <a:p>
            <a:pPr lvl="2"/>
            <a:r>
              <a:rPr lang="en-US" dirty="0"/>
              <a:t>Demonstrated how 2 cons. From same group can’t consume from same partition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8777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982E7-B0FA-B875-99EC-9AC2651B1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6208A-3561-B3F7-3766-D2184C1A8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2: Partition &amp; Replication factors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5B626-D589-4301-3D9D-69523A6BD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Fan out (2 Consumer in diff. groups consume from 1 partition)</a:t>
            </a:r>
          </a:p>
          <a:p>
            <a:pPr lvl="1"/>
            <a:r>
              <a:rPr lang="en-CH" dirty="0"/>
              <a:t>Attempted Partition Parallelism</a:t>
            </a:r>
            <a:endParaRPr lang="en-US" dirty="0"/>
          </a:p>
          <a:p>
            <a:pPr lvl="2"/>
            <a:r>
              <a:rPr lang="en-US" dirty="0"/>
              <a:t>Demonstrated how 3 cons. From same group can’t consume from same partition</a:t>
            </a:r>
          </a:p>
          <a:p>
            <a:pPr lvl="1"/>
            <a:r>
              <a:rPr lang="en-US" dirty="0"/>
              <a:t>Real Partition Parallelism</a:t>
            </a:r>
          </a:p>
          <a:p>
            <a:pPr lvl="2"/>
            <a:r>
              <a:rPr lang="en-US" dirty="0"/>
              <a:t>3 cons. Consume messages from 3 partition in 1 topic</a:t>
            </a:r>
          </a:p>
          <a:p>
            <a:pPr lvl="1"/>
            <a:r>
              <a:rPr lang="en-CH" dirty="0"/>
              <a:t>Broker failure &amp; replication</a:t>
            </a:r>
            <a:endParaRPr lang="en-US" dirty="0"/>
          </a:p>
          <a:p>
            <a:pPr lvl="2"/>
            <a:r>
              <a:rPr lang="en-US" dirty="0"/>
              <a:t>Demonstrated replication logic by shutting of 1 partition</a:t>
            </a:r>
          </a:p>
          <a:p>
            <a:pPr lvl="2"/>
            <a:r>
              <a:rPr lang="en-US" dirty="0"/>
              <a:t>Leader change</a:t>
            </a:r>
            <a:endParaRPr lang="en-CH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37602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3763A-BDE3-BC9B-7602-7F8DF4079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3: RabbitMQ</a:t>
            </a:r>
            <a:endParaRPr lang="en-CH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719F5F2-D890-AA6A-288A-CA3C4BF76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253" y="2166620"/>
            <a:ext cx="5005484" cy="376713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7BC290-0BA1-F257-EB94-458EC391B1E5}"/>
              </a:ext>
            </a:extLst>
          </p:cNvPr>
          <p:cNvSpPr txBox="1"/>
          <p:nvPr/>
        </p:nvSpPr>
        <p:spPr>
          <a:xfrm>
            <a:off x="7124700" y="2720340"/>
            <a:ext cx="42748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/>
              <a:t>Msgpack</a:t>
            </a:r>
            <a:r>
              <a:rPr lang="en-US" dirty="0"/>
              <a:t> as serializer</a:t>
            </a:r>
          </a:p>
          <a:p>
            <a:pPr marL="285750" indent="-285750">
              <a:buFontTx/>
              <a:buChar char="-"/>
            </a:pPr>
            <a:r>
              <a:rPr lang="en-US" dirty="0"/>
              <a:t>CSV sink </a:t>
            </a:r>
            <a:r>
              <a:rPr lang="en-US" dirty="0" err="1"/>
              <a:t>calles</a:t>
            </a:r>
            <a:r>
              <a:rPr lang="en-US" dirty="0"/>
              <a:t> flush() after every row</a:t>
            </a:r>
          </a:p>
          <a:p>
            <a:pPr marL="285750" indent="-285750">
              <a:buFontTx/>
              <a:buChar char="-"/>
            </a:pPr>
            <a:r>
              <a:rPr lang="en-US" dirty="0"/>
              <a:t>Fanout (all exchanges)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Basic_ack</a:t>
            </a: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67055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D0E9E-75AF-CDD4-FF5F-5053CE1A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5CEB-9DE0-7048-3063-CBDD07388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vs Kafka - Similarities</a:t>
            </a:r>
            <a:endParaRPr lang="en-CH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85332C4-E4FB-55EC-8333-BD01001ED5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1" y="1880034"/>
            <a:ext cx="2339340" cy="176059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0560894E-FF79-1B38-6790-314146FBC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731" y="3783223"/>
            <a:ext cx="2562809" cy="185278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825FEB-4D9B-AD42-4D4B-359B21D7FE17}"/>
              </a:ext>
            </a:extLst>
          </p:cNvPr>
          <p:cNvSpPr txBox="1"/>
          <p:nvPr/>
        </p:nvSpPr>
        <p:spPr>
          <a:xfrm>
            <a:off x="7124700" y="2720340"/>
            <a:ext cx="42748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Similar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pub/sub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Business logic is same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13609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014E9-6D2D-D14E-0D37-D5FD07D2C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45C75-B381-F612-1B09-BAADD35C6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vs Kafka - Differences</a:t>
            </a:r>
            <a:endParaRPr lang="en-CH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E88435-1E11-217C-A86B-214D428D93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1" y="1880034"/>
            <a:ext cx="2339340" cy="176059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2EC0832-40FF-FE5E-CA71-A7DAAE5B82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129031"/>
              </p:ext>
            </p:extLst>
          </p:nvPr>
        </p:nvGraphicFramePr>
        <p:xfrm>
          <a:off x="6309868" y="2731346"/>
          <a:ext cx="53670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>
                  <a:extLst>
                    <a:ext uri="{9D8B030D-6E8A-4147-A177-3AD203B41FA5}">
                      <a16:colId xmlns:a16="http://schemas.microsoft.com/office/drawing/2014/main" val="349700926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1533955633"/>
                    </a:ext>
                  </a:extLst>
                </a:gridCol>
              </a:tblGrid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Kafka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RabbitMQ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895915"/>
                  </a:ext>
                </a:extLst>
              </a:tr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Fan Out by design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Traditional </a:t>
                      </a:r>
                      <a:r>
                        <a:rPr lang="en-US" dirty="0" err="1"/>
                        <a:t>MQ</a:t>
                      </a:r>
                      <a:r>
                        <a:rPr lang="en-US" dirty="0"/>
                        <a:t> system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813361"/>
                  </a:ext>
                </a:extLst>
              </a:tr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High throughput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Moderate data volumes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0754900"/>
                  </a:ext>
                </a:extLst>
              </a:tr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Logging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Queue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8370946"/>
                  </a:ext>
                </a:extLst>
              </a:tr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Heavy lifting by cons.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Heavy lifting by broker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433669"/>
                  </a:ext>
                </a:extLst>
              </a:tr>
            </a:tbl>
          </a:graphicData>
        </a:graphic>
      </p:graphicFrame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F94EF055-2A4F-74F2-5584-39223A8906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731" y="3783223"/>
            <a:ext cx="2562809" cy="185278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7799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99056-9D59-7B7A-67FC-5DD2CA82D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4151A-D508-F12E-8DF2-BC0E7E953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vs Kafka - Scalability</a:t>
            </a:r>
            <a:endParaRPr lang="en-CH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49468CC-F37B-BB87-28ED-F3514BED2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1" y="1880034"/>
            <a:ext cx="2339340" cy="176059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716A0F6-B92B-E2B5-8D7F-132B1CBBD6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395737"/>
              </p:ext>
            </p:extLst>
          </p:nvPr>
        </p:nvGraphicFramePr>
        <p:xfrm>
          <a:off x="6309868" y="2731346"/>
          <a:ext cx="53670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>
                  <a:extLst>
                    <a:ext uri="{9D8B030D-6E8A-4147-A177-3AD203B41FA5}">
                      <a16:colId xmlns:a16="http://schemas.microsoft.com/office/drawing/2014/main" val="349700926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1533955633"/>
                    </a:ext>
                  </a:extLst>
                </a:gridCol>
              </a:tblGrid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Kafka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RabbitMQ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895915"/>
                  </a:ext>
                </a:extLst>
              </a:tr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Add brokers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 </a:t>
                      </a:r>
                      <a:r>
                        <a:rPr lang="en-US" dirty="0" err="1"/>
                        <a:t>brockers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0813361"/>
                  </a:ext>
                </a:extLst>
              </a:tr>
              <a:tr h="241639">
                <a:tc>
                  <a:txBody>
                    <a:bodyPr/>
                    <a:lstStyle/>
                    <a:p>
                      <a:r>
                        <a:rPr lang="en-US" dirty="0"/>
                        <a:t>Add partitions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Add consumers (same queue)</a:t>
                      </a:r>
                      <a:endParaRPr lang="en-CH" dirty="0"/>
                    </a:p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0754900"/>
                  </a:ext>
                </a:extLst>
              </a:tr>
            </a:tbl>
          </a:graphicData>
        </a:graphic>
      </p:graphicFrame>
      <p:pic>
        <p:nvPicPr>
          <p:cNvPr id="6" name="Content Placeholder 3">
            <a:extLst>
              <a:ext uri="{FF2B5EF4-FFF2-40B4-BE49-F238E27FC236}">
                <a16:creationId xmlns:a16="http://schemas.microsoft.com/office/drawing/2014/main" id="{2336CE76-3AAF-8423-BA8C-FC1624B0C0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731" y="3783223"/>
            <a:ext cx="2562809" cy="185278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75053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447A-93FB-F4F5-D4AB-6AF42D721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9F4FD-E0E5-51E9-4B50-36BD425B1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4: Wall time per iteration (producer)</a:t>
            </a:r>
            <a:endParaRPr lang="en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E03210-4E04-8393-CF50-F63658E8006D}"/>
              </a:ext>
            </a:extLst>
          </p:cNvPr>
          <p:cNvSpPr txBox="1"/>
          <p:nvPr/>
        </p:nvSpPr>
        <p:spPr>
          <a:xfrm>
            <a:off x="8077200" y="2622535"/>
            <a:ext cx="3886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Setup:</a:t>
            </a:r>
          </a:p>
          <a:p>
            <a:pPr marL="285750" indent="-285750">
              <a:buFontTx/>
              <a:buChar char="-"/>
            </a:pPr>
            <a:r>
              <a:rPr lang="en-US" dirty="0"/>
              <a:t>5 runs x 500 producer messages</a:t>
            </a:r>
          </a:p>
          <a:p>
            <a:pPr marL="285750" indent="-285750">
              <a:buFontTx/>
              <a:buChar char="-"/>
            </a:pPr>
            <a:r>
              <a:rPr lang="en-US" dirty="0"/>
              <a:t>Measure </a:t>
            </a:r>
            <a:r>
              <a:rPr lang="en-US" dirty="0" err="1"/>
              <a:t>walltime</a:t>
            </a:r>
            <a:r>
              <a:rPr lang="en-US" dirty="0"/>
              <a:t> </a:t>
            </a:r>
            <a:endParaRPr lang="en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BFC384-2E4E-0172-96C7-95C4F302257C}"/>
              </a:ext>
            </a:extLst>
          </p:cNvPr>
          <p:cNvSpPr txBox="1"/>
          <p:nvPr/>
        </p:nvSpPr>
        <p:spPr>
          <a:xfrm>
            <a:off x="2788920" y="4215114"/>
            <a:ext cx="4145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Kafka warm up is high, then low</a:t>
            </a:r>
          </a:p>
          <a:p>
            <a:pPr marL="285750" indent="-285750">
              <a:buFontTx/>
              <a:buChar char="-"/>
            </a:pPr>
            <a:r>
              <a:rPr lang="en-US" dirty="0"/>
              <a:t>RabbitMQ consistent but high</a:t>
            </a:r>
            <a:endParaRPr lang="en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7C6D13-D3D3-CAC8-3CB8-FE90BA70A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77" y="2642886"/>
            <a:ext cx="7241184" cy="92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87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26E99-7165-6D07-800F-0DD0EE097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4: Kafka </a:t>
            </a:r>
            <a:r>
              <a:rPr lang="en-US" dirty="0" err="1"/>
              <a:t>cProfile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A8296-379D-9CDB-093C-E75D2B220010}"/>
              </a:ext>
            </a:extLst>
          </p:cNvPr>
          <p:cNvSpPr txBox="1"/>
          <p:nvPr/>
        </p:nvSpPr>
        <p:spPr>
          <a:xfrm>
            <a:off x="4046220" y="5879592"/>
            <a:ext cx="5989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dirty="0"/>
              <a:t>75%</a:t>
            </a:r>
            <a:r>
              <a:rPr lang="en-US" dirty="0"/>
              <a:t> inside metadata fetching from broker (first send)</a:t>
            </a:r>
            <a:endParaRPr lang="en-CH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0476448-9D08-E666-3944-3FCE51DE2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4040" y="1912924"/>
            <a:ext cx="11156950" cy="358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73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8790E-C025-69DA-5405-E1EDE6CC9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4: RabbitMQ </a:t>
            </a:r>
            <a:r>
              <a:rPr lang="en-US" dirty="0" err="1"/>
              <a:t>cProfile</a:t>
            </a:r>
            <a:r>
              <a:rPr lang="en-US" dirty="0"/>
              <a:t> 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B7AAB-677A-BDD4-AD2F-AFC095ACAF37}"/>
              </a:ext>
            </a:extLst>
          </p:cNvPr>
          <p:cNvSpPr txBox="1"/>
          <p:nvPr/>
        </p:nvSpPr>
        <p:spPr>
          <a:xfrm>
            <a:off x="2837815" y="5879592"/>
            <a:ext cx="5989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Publishing by the producer to the buffer takes longer</a:t>
            </a:r>
            <a:endParaRPr lang="en-CH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24CC41F-1525-FE1C-068F-8D564645C9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01739" y="1847850"/>
            <a:ext cx="9461472" cy="3767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305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5A42-C1F1-E466-5E3D-D50DB3B5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4: Deserialization only</a:t>
            </a:r>
            <a:endParaRPr lang="en-CH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C157C7-EA27-2592-9B78-5628CE5671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3842" y="2205315"/>
            <a:ext cx="11156950" cy="18609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5DBE5B-A7E9-0B45-7EF9-27DD032020F9}"/>
              </a:ext>
            </a:extLst>
          </p:cNvPr>
          <p:cNvSpPr txBox="1"/>
          <p:nvPr/>
        </p:nvSpPr>
        <p:spPr>
          <a:xfrm>
            <a:off x="4053840" y="4923837"/>
            <a:ext cx="387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Msgpack</a:t>
            </a:r>
            <a:r>
              <a:rPr lang="en-US" dirty="0"/>
              <a:t> is </a:t>
            </a:r>
            <a:r>
              <a:rPr lang="en-US" dirty="0" err="1"/>
              <a:t>2.17x</a:t>
            </a:r>
            <a:r>
              <a:rPr lang="en-US" dirty="0"/>
              <a:t> faster than JSON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65105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5CAD0-D2C8-C45C-9D2C-6E7B2D555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4: Consumer latency</a:t>
            </a:r>
            <a:endParaRPr lang="en-CH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58A192C-4831-BC0A-447C-D49F6E46A2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4500" y="1963946"/>
            <a:ext cx="11156950" cy="29301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26ED8-DE4D-592D-DCB1-6E9BFFE7CDED}"/>
              </a:ext>
            </a:extLst>
          </p:cNvPr>
          <p:cNvSpPr txBox="1"/>
          <p:nvPr/>
        </p:nvSpPr>
        <p:spPr>
          <a:xfrm>
            <a:off x="3680460" y="5510259"/>
            <a:ext cx="4831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Bottleneck in current consumer design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045196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FBCE2-1601-579C-5C1D-03E4DAE3D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5 - </a:t>
            </a:r>
            <a:r>
              <a:rPr lang="en-CH" dirty="0"/>
              <a:t>End-to-End Latency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517011D-C928-EBA2-02C7-174209A3B9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950" y="2573488"/>
            <a:ext cx="11156950" cy="24428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7261AE-2029-C594-3188-6262E59C7E13}"/>
              </a:ext>
            </a:extLst>
          </p:cNvPr>
          <p:cNvSpPr txBox="1"/>
          <p:nvPr/>
        </p:nvSpPr>
        <p:spPr>
          <a:xfrm>
            <a:off x="3341594" y="5205539"/>
            <a:ext cx="49436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   Producer send to receiving by consumer</a:t>
            </a:r>
          </a:p>
          <a:p>
            <a:pPr marL="285750" indent="-285750">
              <a:buFontTx/>
              <a:buChar char="-"/>
            </a:pPr>
            <a:r>
              <a:rPr lang="en-US" dirty="0"/>
              <a:t>200 messages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RabbitMQ synchronous, Kafka asynchronous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65637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CC7D6-1361-6A6E-7871-A92AB817E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9461D-8B30-11E8-5D85-46F53E3CD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5 - </a:t>
            </a:r>
            <a:r>
              <a:rPr lang="en-CH" dirty="0"/>
              <a:t>End-to-End Latency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EB47401-DA64-AA6A-9421-51C5123B4C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9114" y="2280256"/>
            <a:ext cx="4048648" cy="32251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1CB019-4D02-99DF-00CC-1A8309EEC128}"/>
              </a:ext>
            </a:extLst>
          </p:cNvPr>
          <p:cNvSpPr txBox="1"/>
          <p:nvPr/>
        </p:nvSpPr>
        <p:spPr>
          <a:xfrm>
            <a:off x="7861300" y="3015690"/>
            <a:ext cx="23812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RabbitMQ stable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dirty="0"/>
              <a:t>Synchronous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endParaRPr lang="en-US" dirty="0"/>
          </a:p>
          <a:p>
            <a:r>
              <a:rPr lang="en-US" dirty="0"/>
              <a:t>Kafka instable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en-US" dirty="0"/>
              <a:t>Asynchronous</a:t>
            </a:r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183820238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</TotalTime>
  <Words>350</Words>
  <Application>Microsoft Office PowerPoint</Application>
  <PresentationFormat>Widescreen</PresentationFormat>
  <Paragraphs>83</Paragraphs>
  <Slides>16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Bierstadt</vt:lpstr>
      <vt:lpstr>Wingdings</vt:lpstr>
      <vt:lpstr>GestaltVTI</vt:lpstr>
      <vt:lpstr>HPC MC1</vt:lpstr>
      <vt:lpstr>Problem Statement</vt:lpstr>
      <vt:lpstr>Application: Stock news trend tracker</vt:lpstr>
      <vt:lpstr>Part 2: Consumer Group</vt:lpstr>
      <vt:lpstr>Part 2: Partition &amp; Replication factors</vt:lpstr>
      <vt:lpstr>Part 3: RabbitMQ</vt:lpstr>
      <vt:lpstr>RabbitMQ vs Kafka - Similarities</vt:lpstr>
      <vt:lpstr>RabbitMQ vs Kafka - Differences</vt:lpstr>
      <vt:lpstr>RabbitMQ vs Kafka - Scalability</vt:lpstr>
      <vt:lpstr>Part 4: Wall time per iteration (producer)</vt:lpstr>
      <vt:lpstr>Part 4: Kafka cProfile</vt:lpstr>
      <vt:lpstr>Part 4: RabbitMQ cProfile </vt:lpstr>
      <vt:lpstr>Part 4: Deserialization only</vt:lpstr>
      <vt:lpstr>Part 4: Consumer latency</vt:lpstr>
      <vt:lpstr>Part 5 - End-to-End Latency</vt:lpstr>
      <vt:lpstr>Part 5 - End-to-End Latency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Shwetav Behera</dc:creator>
  <cp:lastModifiedBy>Shwetav Behera</cp:lastModifiedBy>
  <cp:revision>1</cp:revision>
  <dcterms:created xsi:type="dcterms:W3CDTF">2026-04-21T03:22:27Z</dcterms:created>
  <dcterms:modified xsi:type="dcterms:W3CDTF">2026-04-21T11:02:59Z</dcterms:modified>
</cp:coreProperties>
</file>