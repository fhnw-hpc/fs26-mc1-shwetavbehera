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74" r:id="rId6"/>
    <p:sldId id="260" r:id="rId7"/>
    <p:sldId id="265" r:id="rId8"/>
    <p:sldId id="262" r:id="rId9"/>
    <p:sldId id="266" r:id="rId10"/>
    <p:sldId id="267" r:id="rId11"/>
    <p:sldId id="268" r:id="rId12"/>
    <p:sldId id="269" r:id="rId13"/>
    <p:sldId id="272" r:id="rId14"/>
    <p:sldId id="273" r:id="rId15"/>
    <p:sldId id="270" r:id="rId16"/>
    <p:sldId id="271" r:id="rId17"/>
  </p:sldIdLst>
  <p:sldSz cx="12192000" cy="6858000"/>
  <p:notesSz cx="6858000" cy="9144000"/>
  <p:defaultTextStyle>
    <a:defPPr>
      <a:defRPr lang="en-CH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4" autoAdjust="0"/>
    <p:restoredTop sz="79005" autoAdjust="0"/>
  </p:normalViewPr>
  <p:slideViewPr>
    <p:cSldViewPr snapToGrid="0">
      <p:cViewPr>
        <p:scale>
          <a:sx n="150" d="100"/>
          <a:sy n="150" d="100"/>
        </p:scale>
        <p:origin x="108" y="-6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H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070AAC7-D6FD-4DD0-8DA5-634E6164A91D}" type="datetimeFigureOut">
              <a:rPr lang="en-CH" smtClean="0"/>
              <a:t>21.04.2026</a:t>
            </a:fld>
            <a:endParaRPr lang="en-CH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H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1CE4A03-BE3D-405F-A11D-E2DC3FE51E68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29619738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CE4A03-BE3D-405F-A11D-E2DC3FE51E68}" type="slidenum">
              <a:rPr lang="en-CH" smtClean="0"/>
              <a:t>3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181673794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CE4A03-BE3D-405F-A11D-E2DC3FE51E68}" type="slidenum">
              <a:rPr lang="en-CH" smtClean="0"/>
              <a:t>4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299217909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521042-C95D-3C96-8B17-1BC1D40C67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4CC9296-7972-A138-AC8B-A7FD9772703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9908B1A-CF00-3399-1C1A-F4C7AE48583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AE8D0B-882C-4F8E-4F6B-7689CB02350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CE4A03-BE3D-405F-A11D-E2DC3FE51E68}" type="slidenum">
              <a:rPr lang="en-CH" smtClean="0"/>
              <a:t>5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73175491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CE4A03-BE3D-405F-A11D-E2DC3FE51E68}" type="slidenum">
              <a:rPr lang="en-CH" smtClean="0"/>
              <a:t>12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26949831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EA67E988-5919-57BB-C7DE-D3EAD38A3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70" y="6209925"/>
            <a:ext cx="11155680" cy="45719"/>
          </a:xfrm>
          <a:custGeom>
            <a:avLst/>
            <a:gdLst>
              <a:gd name="connsiteX0" fmla="*/ 0 w 8715708"/>
              <a:gd name="connsiteY0" fmla="*/ 0 h 45719"/>
              <a:gd name="connsiteX1" fmla="*/ 3694525 w 8715708"/>
              <a:gd name="connsiteY1" fmla="*/ 0 h 45719"/>
              <a:gd name="connsiteX2" fmla="*/ 5021183 w 8715708"/>
              <a:gd name="connsiteY2" fmla="*/ 0 h 45719"/>
              <a:gd name="connsiteX3" fmla="*/ 8715708 w 8715708"/>
              <a:gd name="connsiteY3" fmla="*/ 0 h 45719"/>
              <a:gd name="connsiteX4" fmla="*/ 8715708 w 8715708"/>
              <a:gd name="connsiteY4" fmla="*/ 45719 h 45719"/>
              <a:gd name="connsiteX5" fmla="*/ 5021183 w 8715708"/>
              <a:gd name="connsiteY5" fmla="*/ 45719 h 45719"/>
              <a:gd name="connsiteX6" fmla="*/ 3694525 w 8715708"/>
              <a:gd name="connsiteY6" fmla="*/ 45719 h 45719"/>
              <a:gd name="connsiteX7" fmla="*/ 0 w 8715708"/>
              <a:gd name="connsiteY7" fmla="*/ 45719 h 45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715708" h="45719">
                <a:moveTo>
                  <a:pt x="0" y="0"/>
                </a:moveTo>
                <a:lnTo>
                  <a:pt x="3694525" y="0"/>
                </a:lnTo>
                <a:lnTo>
                  <a:pt x="5021183" y="0"/>
                </a:lnTo>
                <a:lnTo>
                  <a:pt x="8715708" y="0"/>
                </a:lnTo>
                <a:lnTo>
                  <a:pt x="8715708" y="45719"/>
                </a:lnTo>
                <a:lnTo>
                  <a:pt x="5021183" y="45719"/>
                </a:lnTo>
                <a:lnTo>
                  <a:pt x="3694525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B2327B2-BA4B-2C04-0751-5CB63D4AA4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1208" y="978408"/>
            <a:ext cx="11155680" cy="3429000"/>
          </a:xfrm>
        </p:spPr>
        <p:txBody>
          <a:bodyPr anchor="t">
            <a:normAutofit/>
          </a:bodyPr>
          <a:lstStyle>
            <a:lvl1pPr algn="l">
              <a:defRPr sz="7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201176-DC7A-4C3D-3D8F-352526DA7B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1208" y="4480560"/>
            <a:ext cx="7104888" cy="1399032"/>
          </a:xfrm>
        </p:spPr>
        <p:txBody>
          <a:bodyPr anchor="b">
            <a:normAutofit/>
          </a:bodyPr>
          <a:lstStyle>
            <a:lvl1pPr marL="0" indent="0" algn="l">
              <a:buNone/>
              <a:defRPr sz="2200" i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7DC221-9A2E-7459-102F-C3CFB27CC3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020671-6F7D-3A03-EEC1-661A87F96F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453D3A-E0F9-8386-2A6C-96671FBB15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02397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A26D03-149A-DAB3-4B2A-E9B74F2E25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C1E73D-41A7-9934-0990-9208B95232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BB2A3F-E719-673C-5D56-F663712D0E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AE594A-52F5-D85E-343C-ADFEE3C72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7D5C9C-B2E2-FC26-E459-9E880EF97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31058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29D51F-B2D5-2804-4F7C-C99850FBD0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4288536"/>
          </a:xfrm>
        </p:spPr>
        <p:txBody>
          <a:bodyPr anchor="t">
            <a:norm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FE5516-03B6-C488-EB4A-68AE681EDF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5266944"/>
            <a:ext cx="5020056" cy="1088136"/>
          </a:xfrm>
        </p:spPr>
        <p:txBody>
          <a:bodyPr anchor="b">
            <a:normAutofit/>
          </a:bodyPr>
          <a:lstStyle>
            <a:lvl1pPr marL="0" indent="0">
              <a:buNone/>
              <a:defRPr sz="2200" i="1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ECB4D7-49A7-D050-70B9-11A1E2D445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9A913F-AD00-C1EE-B01A-8590671C01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4FC386-B2AF-6FAD-D053-E22D48CD72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E1E1B67-3BFF-F04B-52F4-7E724FB3B24D}"/>
              </a:ext>
            </a:extLst>
          </p:cNvPr>
          <p:cNvSpPr/>
          <p:nvPr/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79572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CE3B21-CF4D-1B01-0F4E-D32C1B218B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B39FF2-6858-B514-B695-58442557D0C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1208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A30130-974D-B91D-5B93-EC52AABDB5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519672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5BED99-6FD7-9C6B-1152-A6E42715BB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253AAC-5967-2565-A715-82D3505ABF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B51313-69FB-E016-3CC1-62CA476ED2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14484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DF9D-B849-CE37-97E4-AD37F88067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64824" cy="121615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D4C626-4008-960A-E601-6AA9F4BB8D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6E8D6C-AC07-ED6B-2EA8-9C40A5AEA7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21208" y="3035808"/>
            <a:ext cx="5166360" cy="3310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C52617E-C6D9-246B-E7B7-8159DF17C0A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19672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DBC2094-7EBC-02C5-5AB5-233E63080A9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519672" y="3035808"/>
            <a:ext cx="5166360" cy="3310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3010BD2-59B4-FD2E-3C5E-C83AE60039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72B35C4-A654-7759-BDA0-94D9D1A216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55F4347-2EC0-CA6E-2637-8048456D7E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39916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34716D-52F2-C7FB-83B1-2DA1AD375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6F4A371-AC27-6A28-32E6-74A28371BF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55941A-A24E-885D-E894-0326F4C400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D5E5B4-971F-FF6A-1B07-A5C8537055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41826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99F431F-E6DC-4137-3092-A30A0A3628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6AC814B-67B4-C70F-FA51-6205D5E2CB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EAA9C9-D895-DD20-1089-EA75EA4289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030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B50562-884C-9053-70C1-3B72A0B45E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18F509-68F0-39D5-1A8B-CE246715AE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19672" y="987424"/>
            <a:ext cx="5166360" cy="5358384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58E37C-27CE-3A84-FC74-BDCCD8A9A3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A95F79-E23E-11D2-40BF-66ED340195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57F7FC-06F3-3D89-5D1A-4EC4B1D735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54ACD5-6E0B-5713-DC9A-41E9D62AB1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8750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5B2D45-7CDB-D38C-2AAE-273F797674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CBF0855-1744-56E4-B115-3A3C5EA783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519672" y="987424"/>
            <a:ext cx="5166360" cy="535838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5E8A1D-28AE-4A19-BD96-401D4822A5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327DDB-CE95-4C89-DFC5-7DDBFC24E8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22C835-F3B5-943C-FFC4-D5BA9666AF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709891-6E3C-ADED-01DD-15FCED37A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77033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C36771-E72D-FAD8-771E-3E196DD2E1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5BB827-257D-60D9-792F-E695900429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E5D2E7-C856-F78A-E88C-375474982A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DAB289-9591-51C9-9E3C-B6F2ACC6A6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FE037C-790D-7442-8E43-D2740B3952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47545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2635151-A38B-3766-6A32-FF1DF7687D9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659368" y="978408"/>
            <a:ext cx="2551176" cy="5367528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D132D1-640C-FB9A-AD6F-D845738349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21208" y="978408"/>
            <a:ext cx="8010144" cy="536752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55F80A-4BA7-8ED8-9A62-B921942726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E38113-D55A-A1A0-D1FE-53C95860F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919DDB-F89D-4B2D-21A2-82AF1D102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62572D8-D485-1DB1-34B1-C35C61C89940}"/>
              </a:ext>
            </a:extLst>
          </p:cNvPr>
          <p:cNvSpPr/>
          <p:nvPr/>
        </p:nvSpPr>
        <p:spPr>
          <a:xfrm rot="5400000">
            <a:off x="8936623" y="3585018"/>
            <a:ext cx="5325734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97382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31A28D7-6581-4956-AAE3-9104804DF5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146304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CFCCA4-57A4-08A1-FC45-D2BBA66FAB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578608"/>
            <a:ext cx="11155680" cy="37673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FAA0F4-2442-8D45-3C3D-1B8F55C8683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21208" y="641908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E80C50CD-E178-4744-9B35-B2F624D6C5E9}" type="datetimeFigureOut">
              <a:rPr lang="en-US" smtClean="0"/>
              <a:pPr/>
              <a:t>4/21/2026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03785E-FB42-1D54-92AC-D0A61A8FAB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21208" y="100584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C9CF34-1274-DB45-4809-90E5D244A9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57432" y="6419088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64073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0" r:id="rId2"/>
    <p:sldLayoutId id="2147483669" r:id="rId3"/>
    <p:sldLayoutId id="2147483668" r:id="rId4"/>
    <p:sldLayoutId id="2147483667" r:id="rId5"/>
    <p:sldLayoutId id="2147483666" r:id="rId6"/>
    <p:sldLayoutId id="2147483665" r:id="rId7"/>
    <p:sldLayoutId id="2147483664" r:id="rId8"/>
    <p:sldLayoutId id="2147483663" r:id="rId9"/>
    <p:sldLayoutId id="2147483662" r:id="rId10"/>
    <p:sldLayoutId id="2147483661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0EECA69B-4C2A-7F31-8019-E90DB3BD49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pic>
        <p:nvPicPr>
          <p:cNvPr id="4" name="Picture 3" descr="Close-up of circuit board">
            <a:extLst>
              <a:ext uri="{FF2B5EF4-FFF2-40B4-BE49-F238E27FC236}">
                <a16:creationId xmlns:a16="http://schemas.microsoft.com/office/drawing/2014/main" id="{6BA3860F-24C5-FF90-C67D-3A56145CFDE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5730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857DEAC1-B3AA-6569-0A44-A191DF2F3C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577840"/>
            <a:ext cx="12191999" cy="1280160"/>
          </a:xfrm>
          <a:prstGeom prst="rect">
            <a:avLst/>
          </a:prstGeom>
          <a:solidFill>
            <a:schemeClr val="bg1">
              <a:alpha val="8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0F9B26C-782B-4BC8-B5AD-16B88A32FCA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0039" y="5739969"/>
            <a:ext cx="8178501" cy="960120"/>
          </a:xfrm>
          <a:ln>
            <a:noFill/>
          </a:ln>
        </p:spPr>
        <p:txBody>
          <a:bodyPr anchor="ctr">
            <a:normAutofit/>
          </a:bodyPr>
          <a:lstStyle/>
          <a:p>
            <a:r>
              <a:rPr lang="en-US" sz="4400"/>
              <a:t>HPC MC1</a:t>
            </a:r>
            <a:endParaRPr lang="en-CH" sz="440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AF6A5E0-B0C0-17BD-2F9F-CB76BE2A211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641975" y="5739969"/>
            <a:ext cx="3355309" cy="960120"/>
          </a:xfrm>
        </p:spPr>
        <p:txBody>
          <a:bodyPr anchor="ctr">
            <a:normAutofit/>
          </a:bodyPr>
          <a:lstStyle/>
          <a:p>
            <a:pPr algn="r"/>
            <a:endParaRPr lang="en-CH" sz="1900"/>
          </a:p>
        </p:txBody>
      </p:sp>
    </p:spTree>
    <p:extLst>
      <p:ext uri="{BB962C8B-B14F-4D97-AF65-F5344CB8AC3E}">
        <p14:creationId xmlns:p14="http://schemas.microsoft.com/office/powerpoint/2010/main" val="36508341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8E8AC4-10D8-A5A6-25C2-7E0118EC04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1171114"/>
          </a:xfrm>
        </p:spPr>
        <p:txBody>
          <a:bodyPr/>
          <a:lstStyle/>
          <a:p>
            <a:r>
              <a:rPr lang="en-US" dirty="0"/>
              <a:t>Problem Statement</a:t>
            </a:r>
            <a:endParaRPr lang="en-CH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59E4CF9-69AB-154A-CF65-6FE134EFABA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66115" y="2428496"/>
            <a:ext cx="3515317" cy="2343545"/>
          </a:xfrm>
          <a:prstGeom prst="rect">
            <a:avLst/>
          </a:prstGeom>
        </p:spPr>
      </p:pic>
      <p:pic>
        <p:nvPicPr>
          <p:cNvPr id="1030" name="Picture 6" descr="Do soaring 'meme stocks' and 'story stocks' signal a warning ...">
            <a:extLst>
              <a:ext uri="{FF2B5EF4-FFF2-40B4-BE49-F238E27FC236}">
                <a16:creationId xmlns:a16="http://schemas.microsoft.com/office/drawing/2014/main" id="{6B2AB88A-BD4C-D31C-A9EA-8E06A3F3DC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1" y="2040341"/>
            <a:ext cx="4740322" cy="32923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621271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A84287-E474-BD8A-4374-091549B24B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Application: Stock news trend tracker</a:t>
            </a:r>
            <a:endParaRPr lang="en-CH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AC33F07B-3110-0235-8D99-D96BAE49E1F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5771" y="2213503"/>
            <a:ext cx="5071008" cy="3666089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FEDF3AB-EBC2-4252-F4B7-0DF59B2E5FC0}"/>
              </a:ext>
            </a:extLst>
          </p:cNvPr>
          <p:cNvSpPr txBox="1"/>
          <p:nvPr/>
        </p:nvSpPr>
        <p:spPr>
          <a:xfrm>
            <a:off x="7124700" y="2720340"/>
            <a:ext cx="427482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US" dirty="0" err="1"/>
              <a:t>Msgpack</a:t>
            </a:r>
            <a:r>
              <a:rPr lang="en-US" dirty="0"/>
              <a:t> as serializer</a:t>
            </a:r>
          </a:p>
          <a:p>
            <a:pPr marL="285750" indent="-285750">
              <a:buFontTx/>
              <a:buChar char="-"/>
            </a:pPr>
            <a:r>
              <a:rPr lang="en-US" dirty="0"/>
              <a:t>CSV sink </a:t>
            </a:r>
            <a:r>
              <a:rPr lang="en-US" dirty="0" err="1"/>
              <a:t>calles</a:t>
            </a:r>
            <a:r>
              <a:rPr lang="en-US" dirty="0"/>
              <a:t> flush() after every row</a:t>
            </a:r>
          </a:p>
          <a:p>
            <a:pPr marL="285750" indent="-285750">
              <a:buFontTx/>
              <a:buChar char="-"/>
            </a:pPr>
            <a:r>
              <a:rPr lang="en-CH" dirty="0"/>
              <a:t>Offset Earliest</a:t>
            </a:r>
            <a:r>
              <a:rPr lang="en-US" dirty="0"/>
              <a:t> (not too much data in stream, so in this case ok to read full topic)</a:t>
            </a:r>
          </a:p>
          <a:p>
            <a:pPr marL="285750" indent="-285750">
              <a:buFontTx/>
              <a:buChar char="-"/>
            </a:pPr>
            <a:r>
              <a:rPr lang="en-US" dirty="0" err="1"/>
              <a:t>Dockerized</a:t>
            </a:r>
            <a:r>
              <a:rPr lang="en-US" dirty="0"/>
              <a:t> services</a:t>
            </a:r>
          </a:p>
          <a:p>
            <a:pPr marL="285750" indent="-285750">
              <a:buFontTx/>
              <a:buChar char="-"/>
            </a:pPr>
            <a:endParaRPr lang="en-US" dirty="0"/>
          </a:p>
          <a:p>
            <a:pPr marL="285750" indent="-285750">
              <a:buFontTx/>
              <a:buChar char="-"/>
            </a:pPr>
            <a:endParaRPr lang="en-CH" dirty="0"/>
          </a:p>
        </p:txBody>
      </p:sp>
    </p:spTree>
    <p:extLst>
      <p:ext uri="{BB962C8B-B14F-4D97-AF65-F5344CB8AC3E}">
        <p14:creationId xmlns:p14="http://schemas.microsoft.com/office/powerpoint/2010/main" val="16586442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7A0C9A-3BAF-5DA6-2F5B-233CC0AAA5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Part 2: Consumer Group</a:t>
            </a:r>
            <a:endParaRPr lang="en-C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5BDFB1-2749-9AA5-DE2A-D261CD66EF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lang="en-US" dirty="0"/>
              <a:t>Fan out (2 Consumer in diff. groups consume from 1 partition)</a:t>
            </a:r>
          </a:p>
          <a:p>
            <a:pPr lvl="1"/>
            <a:r>
              <a:rPr lang="en-US" dirty="0"/>
              <a:t>Load balancing failure</a:t>
            </a:r>
          </a:p>
          <a:p>
            <a:pPr lvl="2"/>
            <a:r>
              <a:rPr lang="en-US" dirty="0"/>
              <a:t>Demonstrated how 2 cons. From same group can’t consume from same partition</a:t>
            </a:r>
          </a:p>
          <a:p>
            <a:pPr lvl="2"/>
            <a:endParaRPr lang="en-US" dirty="0"/>
          </a:p>
          <a:p>
            <a:pPr lvl="2"/>
            <a:endParaRPr lang="en-US" dirty="0"/>
          </a:p>
          <a:p>
            <a:pPr marL="457200" lvl="1" indent="0">
              <a:buNone/>
            </a:pPr>
            <a:endParaRPr lang="en-CH" dirty="0"/>
          </a:p>
        </p:txBody>
      </p:sp>
    </p:spTree>
    <p:extLst>
      <p:ext uri="{BB962C8B-B14F-4D97-AF65-F5344CB8AC3E}">
        <p14:creationId xmlns:p14="http://schemas.microsoft.com/office/powerpoint/2010/main" val="30487777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2982E7-B0FA-B875-99EC-9AC2651B1F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C6208A-3561-B3F7-3766-D2184C1A85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Part 2: Partition &amp; Replication factors</a:t>
            </a:r>
            <a:endParaRPr lang="en-C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25B626-D589-4301-3D9D-69523A6BDC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lang="en-US" dirty="0"/>
              <a:t>Fan out (2 Consumer in diff. groups consume from 1 partition)</a:t>
            </a:r>
          </a:p>
          <a:p>
            <a:pPr lvl="1"/>
            <a:r>
              <a:rPr lang="en-CH" dirty="0"/>
              <a:t>Attempted Partition Parallelism</a:t>
            </a:r>
            <a:endParaRPr lang="en-US" dirty="0"/>
          </a:p>
          <a:p>
            <a:pPr lvl="2"/>
            <a:r>
              <a:rPr lang="en-US" dirty="0"/>
              <a:t>Demonstrated how 3 cons. From same group can’t consume from same partition</a:t>
            </a:r>
          </a:p>
          <a:p>
            <a:pPr lvl="1"/>
            <a:r>
              <a:rPr lang="en-US" dirty="0"/>
              <a:t>Real Partition Parallelism</a:t>
            </a:r>
          </a:p>
          <a:p>
            <a:pPr lvl="2"/>
            <a:r>
              <a:rPr lang="en-US" dirty="0"/>
              <a:t>3 cons. Consume messages from 3 partition in 1 topic</a:t>
            </a:r>
          </a:p>
          <a:p>
            <a:pPr lvl="1"/>
            <a:r>
              <a:rPr lang="en-CH" dirty="0"/>
              <a:t>Broker failure &amp; replication</a:t>
            </a:r>
            <a:endParaRPr lang="en-US" dirty="0"/>
          </a:p>
          <a:p>
            <a:pPr lvl="2"/>
            <a:r>
              <a:rPr lang="en-US" dirty="0"/>
              <a:t>Demonstrated replication logic by shutting of 1 partition</a:t>
            </a:r>
          </a:p>
          <a:p>
            <a:pPr lvl="2"/>
            <a:r>
              <a:rPr lang="en-US" dirty="0"/>
              <a:t>Leader change</a:t>
            </a:r>
            <a:endParaRPr lang="en-CH" dirty="0"/>
          </a:p>
          <a:p>
            <a:pPr lvl="1"/>
            <a:endParaRPr lang="en-US" dirty="0"/>
          </a:p>
          <a:p>
            <a:pPr lvl="2"/>
            <a:endParaRPr lang="en-US" dirty="0"/>
          </a:p>
          <a:p>
            <a:pPr marL="914400" lvl="2" indent="0">
              <a:buNone/>
            </a:pPr>
            <a:endParaRPr lang="en-US" dirty="0"/>
          </a:p>
          <a:p>
            <a:pPr lvl="2"/>
            <a:endParaRPr lang="en-US" dirty="0"/>
          </a:p>
          <a:p>
            <a:pPr lvl="2"/>
            <a:endParaRPr lang="en-US" dirty="0"/>
          </a:p>
          <a:p>
            <a:pPr marL="457200" lvl="1" indent="0">
              <a:buNone/>
            </a:pPr>
            <a:endParaRPr lang="en-CH" dirty="0"/>
          </a:p>
        </p:txBody>
      </p:sp>
    </p:spTree>
    <p:extLst>
      <p:ext uri="{BB962C8B-B14F-4D97-AF65-F5344CB8AC3E}">
        <p14:creationId xmlns:p14="http://schemas.microsoft.com/office/powerpoint/2010/main" val="38376024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C3763A-BDE3-BC9B-7602-7F8DF40797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Part 3: RabbitMQ</a:t>
            </a:r>
            <a:endParaRPr lang="en-CH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4719F5F2-D890-AA6A-288A-CA3C4BF76E5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3253" y="2166620"/>
            <a:ext cx="5005484" cy="3767138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57BC290-0BA1-F257-EB94-458EC391B1E5}"/>
              </a:ext>
            </a:extLst>
          </p:cNvPr>
          <p:cNvSpPr txBox="1"/>
          <p:nvPr/>
        </p:nvSpPr>
        <p:spPr>
          <a:xfrm>
            <a:off x="7124700" y="2720340"/>
            <a:ext cx="427482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US" dirty="0" err="1"/>
              <a:t>Msgpack</a:t>
            </a:r>
            <a:r>
              <a:rPr lang="en-US" dirty="0"/>
              <a:t> as serializer</a:t>
            </a:r>
          </a:p>
          <a:p>
            <a:pPr marL="285750" indent="-285750">
              <a:buFontTx/>
              <a:buChar char="-"/>
            </a:pPr>
            <a:r>
              <a:rPr lang="en-US" dirty="0"/>
              <a:t>CSV sink </a:t>
            </a:r>
            <a:r>
              <a:rPr lang="en-US" dirty="0" err="1"/>
              <a:t>calles</a:t>
            </a:r>
            <a:r>
              <a:rPr lang="en-US" dirty="0"/>
              <a:t> flush() after every row</a:t>
            </a:r>
          </a:p>
          <a:p>
            <a:pPr marL="285750" indent="-285750">
              <a:buFontTx/>
              <a:buChar char="-"/>
            </a:pPr>
            <a:r>
              <a:rPr lang="en-US" dirty="0"/>
              <a:t>Fanout (all exchanges)</a:t>
            </a:r>
          </a:p>
          <a:p>
            <a:pPr marL="285750" indent="-285750">
              <a:buFontTx/>
              <a:buChar char="-"/>
            </a:pPr>
            <a:r>
              <a:rPr lang="en-US" dirty="0" err="1"/>
              <a:t>Basic_ack</a:t>
            </a:r>
            <a:endParaRPr lang="en-US" dirty="0"/>
          </a:p>
          <a:p>
            <a:pPr marL="285750" indent="-285750">
              <a:buFontTx/>
              <a:buChar char="-"/>
            </a:pPr>
            <a:endParaRPr lang="en-US" dirty="0"/>
          </a:p>
          <a:p>
            <a:pPr marL="285750" indent="-285750">
              <a:buFontTx/>
              <a:buChar char="-"/>
            </a:pPr>
            <a:endParaRPr lang="en-US" dirty="0"/>
          </a:p>
          <a:p>
            <a:pPr marL="285750" indent="-285750">
              <a:buFontTx/>
              <a:buChar char="-"/>
            </a:pPr>
            <a:endParaRPr lang="en-CH" dirty="0"/>
          </a:p>
        </p:txBody>
      </p:sp>
    </p:spTree>
    <p:extLst>
      <p:ext uri="{BB962C8B-B14F-4D97-AF65-F5344CB8AC3E}">
        <p14:creationId xmlns:p14="http://schemas.microsoft.com/office/powerpoint/2010/main" val="5670556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FD0E9E-75AF-CDD4-FF5F-5053CE1AD3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655CEB-9DE0-7048-3063-CBDD07388D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RabbitMQ vs Kafka - Similarities</a:t>
            </a:r>
            <a:endParaRPr lang="en-CH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185332C4-E4FB-55EC-8333-BD01001ED51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2461" y="1880034"/>
            <a:ext cx="2339340" cy="1760593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Content Placeholder 3">
            <a:extLst>
              <a:ext uri="{FF2B5EF4-FFF2-40B4-BE49-F238E27FC236}">
                <a16:creationId xmlns:a16="http://schemas.microsoft.com/office/drawing/2014/main" id="{0560894E-FF79-1B38-6790-314146FBC28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9731" y="3783223"/>
            <a:ext cx="2562809" cy="1852785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D825FEB-4D9B-AD42-4D4B-359B21D7FE17}"/>
              </a:ext>
            </a:extLst>
          </p:cNvPr>
          <p:cNvSpPr txBox="1"/>
          <p:nvPr/>
        </p:nvSpPr>
        <p:spPr>
          <a:xfrm>
            <a:off x="7124700" y="2720340"/>
            <a:ext cx="427482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Similar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Both pub/sub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Business logic is same</a:t>
            </a:r>
          </a:p>
          <a:p>
            <a:pPr marL="285750" indent="-285750">
              <a:buFontTx/>
              <a:buChar char="-"/>
            </a:pPr>
            <a:endParaRPr lang="en-US" dirty="0"/>
          </a:p>
          <a:p>
            <a:pPr marL="285750" indent="-285750">
              <a:buFontTx/>
              <a:buChar char="-"/>
            </a:pPr>
            <a:endParaRPr lang="en-CH" dirty="0"/>
          </a:p>
        </p:txBody>
      </p:sp>
    </p:spTree>
    <p:extLst>
      <p:ext uri="{BB962C8B-B14F-4D97-AF65-F5344CB8AC3E}">
        <p14:creationId xmlns:p14="http://schemas.microsoft.com/office/powerpoint/2010/main" val="12136090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3014E9-6D2D-D14E-0D37-D5FD07D2CC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045C75-B381-F612-1B09-BAADD35C66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RabbitMQ vs Kafka - Differences</a:t>
            </a:r>
            <a:endParaRPr lang="en-CH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8FE88435-1E11-217C-A86B-214D428D936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2461" y="1880034"/>
            <a:ext cx="2339340" cy="1760593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22EC0832-40FF-FE5E-CA71-A7DAAE5B82C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85129031"/>
              </p:ext>
            </p:extLst>
          </p:nvPr>
        </p:nvGraphicFramePr>
        <p:xfrm>
          <a:off x="6309868" y="2731346"/>
          <a:ext cx="536702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92400">
                  <a:extLst>
                    <a:ext uri="{9D8B030D-6E8A-4147-A177-3AD203B41FA5}">
                      <a16:colId xmlns:a16="http://schemas.microsoft.com/office/drawing/2014/main" val="3497009260"/>
                    </a:ext>
                  </a:extLst>
                </a:gridCol>
                <a:gridCol w="2674620">
                  <a:extLst>
                    <a:ext uri="{9D8B030D-6E8A-4147-A177-3AD203B41FA5}">
                      <a16:colId xmlns:a16="http://schemas.microsoft.com/office/drawing/2014/main" val="1533955633"/>
                    </a:ext>
                  </a:extLst>
                </a:gridCol>
              </a:tblGrid>
              <a:tr h="241639">
                <a:tc>
                  <a:txBody>
                    <a:bodyPr/>
                    <a:lstStyle/>
                    <a:p>
                      <a:r>
                        <a:rPr lang="en-US" dirty="0"/>
                        <a:t>Kafka</a:t>
                      </a:r>
                      <a:endParaRPr lang="en-C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RabbitMQ</a:t>
                      </a:r>
                      <a:endParaRPr lang="en-CH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51895915"/>
                  </a:ext>
                </a:extLst>
              </a:tr>
              <a:tr h="241639">
                <a:tc>
                  <a:txBody>
                    <a:bodyPr/>
                    <a:lstStyle/>
                    <a:p>
                      <a:r>
                        <a:rPr lang="en-US" dirty="0"/>
                        <a:t>Fan Out by design</a:t>
                      </a:r>
                      <a:endParaRPr lang="en-C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Traditional </a:t>
                      </a:r>
                      <a:r>
                        <a:rPr lang="en-US" dirty="0" err="1"/>
                        <a:t>MQ</a:t>
                      </a:r>
                      <a:r>
                        <a:rPr lang="en-US" dirty="0"/>
                        <a:t> system</a:t>
                      </a:r>
                      <a:endParaRPr lang="en-CH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0813361"/>
                  </a:ext>
                </a:extLst>
              </a:tr>
              <a:tr h="241639">
                <a:tc>
                  <a:txBody>
                    <a:bodyPr/>
                    <a:lstStyle/>
                    <a:p>
                      <a:r>
                        <a:rPr lang="en-US" dirty="0"/>
                        <a:t>High throughput</a:t>
                      </a:r>
                      <a:endParaRPr lang="en-C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Moderate data volumes</a:t>
                      </a:r>
                      <a:endParaRPr lang="en-CH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0754900"/>
                  </a:ext>
                </a:extLst>
              </a:tr>
              <a:tr h="241639">
                <a:tc>
                  <a:txBody>
                    <a:bodyPr/>
                    <a:lstStyle/>
                    <a:p>
                      <a:r>
                        <a:rPr lang="en-US" dirty="0"/>
                        <a:t>Logging</a:t>
                      </a:r>
                      <a:endParaRPr lang="en-C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Queue</a:t>
                      </a:r>
                      <a:endParaRPr lang="en-CH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98370946"/>
                  </a:ext>
                </a:extLst>
              </a:tr>
              <a:tr h="241639">
                <a:tc>
                  <a:txBody>
                    <a:bodyPr/>
                    <a:lstStyle/>
                    <a:p>
                      <a:r>
                        <a:rPr lang="en-US" dirty="0"/>
                        <a:t>Heavy lifting by cons.</a:t>
                      </a:r>
                      <a:endParaRPr lang="en-C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Heavy lifting by broker</a:t>
                      </a:r>
                      <a:endParaRPr lang="en-CH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97433669"/>
                  </a:ext>
                </a:extLst>
              </a:tr>
            </a:tbl>
          </a:graphicData>
        </a:graphic>
      </p:graphicFrame>
      <p:pic>
        <p:nvPicPr>
          <p:cNvPr id="6" name="Content Placeholder 3">
            <a:extLst>
              <a:ext uri="{FF2B5EF4-FFF2-40B4-BE49-F238E27FC236}">
                <a16:creationId xmlns:a16="http://schemas.microsoft.com/office/drawing/2014/main" id="{F94EF055-2A4F-74F2-5584-39223A89066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9731" y="3783223"/>
            <a:ext cx="2562809" cy="185278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8477993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999056-9D59-7B7A-67FC-5DD2CA82D3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B4151A-D508-F12E-8DF2-BC0E7E9534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RabbitMQ vs Kafka - Scalability</a:t>
            </a:r>
            <a:endParaRPr lang="en-CH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E49468CC-F37B-BB87-28ED-F3514BED236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2461" y="1880034"/>
            <a:ext cx="2339340" cy="1760593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D716A0F6-B92B-E2B5-8D7F-132B1CBBD62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59395737"/>
              </p:ext>
            </p:extLst>
          </p:nvPr>
        </p:nvGraphicFramePr>
        <p:xfrm>
          <a:off x="6309868" y="2731346"/>
          <a:ext cx="536702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92400">
                  <a:extLst>
                    <a:ext uri="{9D8B030D-6E8A-4147-A177-3AD203B41FA5}">
                      <a16:colId xmlns:a16="http://schemas.microsoft.com/office/drawing/2014/main" val="3497009260"/>
                    </a:ext>
                  </a:extLst>
                </a:gridCol>
                <a:gridCol w="2674620">
                  <a:extLst>
                    <a:ext uri="{9D8B030D-6E8A-4147-A177-3AD203B41FA5}">
                      <a16:colId xmlns:a16="http://schemas.microsoft.com/office/drawing/2014/main" val="1533955633"/>
                    </a:ext>
                  </a:extLst>
                </a:gridCol>
              </a:tblGrid>
              <a:tr h="241639">
                <a:tc>
                  <a:txBody>
                    <a:bodyPr/>
                    <a:lstStyle/>
                    <a:p>
                      <a:r>
                        <a:rPr lang="en-US" dirty="0"/>
                        <a:t>Kafka</a:t>
                      </a:r>
                      <a:endParaRPr lang="en-C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RabbitMQ</a:t>
                      </a:r>
                      <a:endParaRPr lang="en-CH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51895915"/>
                  </a:ext>
                </a:extLst>
              </a:tr>
              <a:tr h="241639">
                <a:tc>
                  <a:txBody>
                    <a:bodyPr/>
                    <a:lstStyle/>
                    <a:p>
                      <a:r>
                        <a:rPr lang="en-US" dirty="0"/>
                        <a:t>Add brokers</a:t>
                      </a:r>
                      <a:endParaRPr lang="en-C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Add </a:t>
                      </a:r>
                      <a:r>
                        <a:rPr lang="en-US" dirty="0" err="1"/>
                        <a:t>brockers</a:t>
                      </a:r>
                      <a:endParaRPr lang="en-CH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0813361"/>
                  </a:ext>
                </a:extLst>
              </a:tr>
              <a:tr h="241639">
                <a:tc>
                  <a:txBody>
                    <a:bodyPr/>
                    <a:lstStyle/>
                    <a:p>
                      <a:r>
                        <a:rPr lang="en-US" dirty="0"/>
                        <a:t>Add partitions</a:t>
                      </a:r>
                      <a:endParaRPr lang="en-C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Add consumers (same queue)</a:t>
                      </a:r>
                      <a:endParaRPr lang="en-CH" dirty="0"/>
                    </a:p>
                    <a:p>
                      <a:endParaRPr lang="en-CH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0754900"/>
                  </a:ext>
                </a:extLst>
              </a:tr>
            </a:tbl>
          </a:graphicData>
        </a:graphic>
      </p:graphicFrame>
      <p:pic>
        <p:nvPicPr>
          <p:cNvPr id="6" name="Content Placeholder 3">
            <a:extLst>
              <a:ext uri="{FF2B5EF4-FFF2-40B4-BE49-F238E27FC236}">
                <a16:creationId xmlns:a16="http://schemas.microsoft.com/office/drawing/2014/main" id="{2336CE76-3AAF-8423-BA8C-FC1624B0C0F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9731" y="3783223"/>
            <a:ext cx="2562809" cy="185278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0750537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F9447A-93FB-F4F5-D4AB-6AF42D721D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29F4FD-E0E5-51E9-4B50-36BD425B1A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Part 4: Wall time per iteration (producer)</a:t>
            </a:r>
            <a:endParaRPr lang="en-CH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6E03210-4E04-8393-CF50-F63658E8006D}"/>
              </a:ext>
            </a:extLst>
          </p:cNvPr>
          <p:cNvSpPr txBox="1"/>
          <p:nvPr/>
        </p:nvSpPr>
        <p:spPr>
          <a:xfrm>
            <a:off x="8077200" y="2622535"/>
            <a:ext cx="38862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Setup:</a:t>
            </a:r>
          </a:p>
          <a:p>
            <a:pPr marL="285750" indent="-285750">
              <a:buFontTx/>
              <a:buChar char="-"/>
            </a:pPr>
            <a:r>
              <a:rPr lang="en-US" dirty="0"/>
              <a:t>5 runs x 500 producer messages</a:t>
            </a:r>
          </a:p>
          <a:p>
            <a:pPr marL="285750" indent="-285750">
              <a:buFontTx/>
              <a:buChar char="-"/>
            </a:pPr>
            <a:r>
              <a:rPr lang="en-US" dirty="0"/>
              <a:t>Measure </a:t>
            </a:r>
            <a:r>
              <a:rPr lang="en-US" dirty="0" err="1"/>
              <a:t>walltime</a:t>
            </a:r>
            <a:r>
              <a:rPr lang="en-US" dirty="0"/>
              <a:t> </a:t>
            </a:r>
            <a:endParaRPr lang="en-CH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9BFC384-2E4E-0172-96C7-95C4F302257C}"/>
              </a:ext>
            </a:extLst>
          </p:cNvPr>
          <p:cNvSpPr txBox="1"/>
          <p:nvPr/>
        </p:nvSpPr>
        <p:spPr>
          <a:xfrm>
            <a:off x="2788920" y="4215114"/>
            <a:ext cx="41452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US" dirty="0"/>
              <a:t>Kafka warm up is high, then low</a:t>
            </a:r>
          </a:p>
          <a:p>
            <a:pPr marL="285750" indent="-285750">
              <a:buFontTx/>
              <a:buChar char="-"/>
            </a:pPr>
            <a:r>
              <a:rPr lang="en-US" dirty="0"/>
              <a:t>RabbitMQ consistent but high</a:t>
            </a:r>
            <a:endParaRPr lang="en-CH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617C6D13-D3D3-CAC8-3CB8-FE90BA70AA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177" y="2642886"/>
            <a:ext cx="7241184" cy="9233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4874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326E99-7165-6D07-800F-0DD0EE0978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Part 4: Kafka </a:t>
            </a:r>
            <a:r>
              <a:rPr lang="en-US" dirty="0" err="1"/>
              <a:t>cProfile</a:t>
            </a:r>
            <a:endParaRPr lang="en-CH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1EA8296-379D-9CDB-093C-E75D2B220010}"/>
              </a:ext>
            </a:extLst>
          </p:cNvPr>
          <p:cNvSpPr txBox="1"/>
          <p:nvPr/>
        </p:nvSpPr>
        <p:spPr>
          <a:xfrm>
            <a:off x="4046220" y="5879592"/>
            <a:ext cx="59893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CH" dirty="0"/>
              <a:t>75%</a:t>
            </a:r>
            <a:r>
              <a:rPr lang="en-US" dirty="0"/>
              <a:t> inside metadata fetching from broker (first send)</a:t>
            </a:r>
            <a:endParaRPr lang="en-CH" dirty="0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80476448-9D08-E666-3944-3FCE51DE24F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74040" y="1912924"/>
            <a:ext cx="11156950" cy="35887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957373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C8790E-C025-69DA-5405-E1EDE6CC94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Part 4: RabbitMQ </a:t>
            </a:r>
            <a:r>
              <a:rPr lang="en-US" dirty="0" err="1"/>
              <a:t>cProfile</a:t>
            </a:r>
            <a:r>
              <a:rPr lang="en-US" dirty="0"/>
              <a:t> </a:t>
            </a:r>
            <a:endParaRPr lang="en-CH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CFB7AAB-677A-BDD4-AD2F-AFC095ACAF37}"/>
              </a:ext>
            </a:extLst>
          </p:cNvPr>
          <p:cNvSpPr txBox="1"/>
          <p:nvPr/>
        </p:nvSpPr>
        <p:spPr>
          <a:xfrm>
            <a:off x="3101340" y="5879592"/>
            <a:ext cx="59893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US" dirty="0"/>
              <a:t>Publishing by the producer to the buffer takes longer</a:t>
            </a:r>
            <a:endParaRPr lang="en-CH" dirty="0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924CC41F-1525-FE1C-068F-8D564645C91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101739" y="1847850"/>
            <a:ext cx="9461472" cy="37671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030536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D35A42-C1F1-E466-5E3D-D50DB3B5B8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Part 4: Deserialization only</a:t>
            </a:r>
            <a:endParaRPr lang="en-CH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5C157C7-EA27-2592-9B78-5628CE56710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13842" y="2205315"/>
            <a:ext cx="11156950" cy="186094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E5DBE5B-A7E9-0B45-7EF9-27DD032020F9}"/>
              </a:ext>
            </a:extLst>
          </p:cNvPr>
          <p:cNvSpPr txBox="1"/>
          <p:nvPr/>
        </p:nvSpPr>
        <p:spPr>
          <a:xfrm>
            <a:off x="4053840" y="4923837"/>
            <a:ext cx="38709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Msgpack</a:t>
            </a:r>
            <a:r>
              <a:rPr lang="en-US" dirty="0"/>
              <a:t> is </a:t>
            </a:r>
            <a:r>
              <a:rPr lang="en-US" dirty="0" err="1"/>
              <a:t>2.17x</a:t>
            </a:r>
            <a:r>
              <a:rPr lang="en-US" dirty="0"/>
              <a:t> faster than JSON</a:t>
            </a:r>
            <a:endParaRPr lang="en-CH" dirty="0"/>
          </a:p>
        </p:txBody>
      </p:sp>
    </p:spTree>
    <p:extLst>
      <p:ext uri="{BB962C8B-B14F-4D97-AF65-F5344CB8AC3E}">
        <p14:creationId xmlns:p14="http://schemas.microsoft.com/office/powerpoint/2010/main" val="156510571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95CAD0-D2C8-C45C-9D2C-6E7B2D5551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Part 4: Consumer latency</a:t>
            </a:r>
            <a:endParaRPr lang="en-CH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58A192C-4831-BC0A-447C-D49F6E46A25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44500" y="1963946"/>
            <a:ext cx="11156950" cy="293010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9B26ED8-DE4D-592D-DCB1-6E9BFFE7CDED}"/>
              </a:ext>
            </a:extLst>
          </p:cNvPr>
          <p:cNvSpPr txBox="1"/>
          <p:nvPr/>
        </p:nvSpPr>
        <p:spPr>
          <a:xfrm>
            <a:off x="3680460" y="5510259"/>
            <a:ext cx="48310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Main Bottleneck in current consumer design</a:t>
            </a:r>
            <a:endParaRPr lang="en-CH" dirty="0"/>
          </a:p>
        </p:txBody>
      </p:sp>
    </p:spTree>
    <p:extLst>
      <p:ext uri="{BB962C8B-B14F-4D97-AF65-F5344CB8AC3E}">
        <p14:creationId xmlns:p14="http://schemas.microsoft.com/office/powerpoint/2010/main" val="10451963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AFBCE2-1601-579C-5C1D-03E4DAE3DA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Part 5 - </a:t>
            </a:r>
            <a:r>
              <a:rPr lang="en-CH" dirty="0"/>
              <a:t>End-to-End Latency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4DF9767-502D-B697-B2E8-F1D70814269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52179" y="2349867"/>
            <a:ext cx="7287642" cy="1571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563752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FCC7D6-1361-6A6E-7871-A92AB817E1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09461D-8B30-11E8-5D85-46F53E3CD4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Part 5 - </a:t>
            </a:r>
            <a:r>
              <a:rPr lang="en-CH" dirty="0"/>
              <a:t>End-to-End Latency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280A8626-FFFD-4FE7-943E-DD353516C7D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76976" y="2112454"/>
            <a:ext cx="5041917" cy="37671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3820238"/>
      </p:ext>
    </p:extLst>
  </p:cSld>
  <p:clrMapOvr>
    <a:masterClrMapping/>
  </p:clrMapOvr>
</p:sld>
</file>

<file path=ppt/theme/theme1.xml><?xml version="1.0" encoding="utf-8"?>
<a:theme xmlns:a="http://schemas.openxmlformats.org/drawingml/2006/main" name="GestaltVTI">
  <a:themeElements>
    <a:clrScheme name="Gestalt">
      <a:dk1>
        <a:srgbClr val="000000"/>
      </a:dk1>
      <a:lt1>
        <a:sysClr val="window" lastClr="FFFFFF"/>
      </a:lt1>
      <a:dk2>
        <a:srgbClr val="262626"/>
      </a:dk2>
      <a:lt2>
        <a:srgbClr val="F7F7F7"/>
      </a:lt2>
      <a:accent1>
        <a:srgbClr val="EBA000"/>
      </a:accent1>
      <a:accent2>
        <a:srgbClr val="00BAC8"/>
      </a:accent2>
      <a:accent3>
        <a:srgbClr val="E64823"/>
      </a:accent3>
      <a:accent4>
        <a:srgbClr val="4D5AFF"/>
      </a:accent4>
      <a:accent5>
        <a:srgbClr val="FE5D21"/>
      </a:accent5>
      <a:accent6>
        <a:srgbClr val="00C777"/>
      </a:accent6>
      <a:hlink>
        <a:srgbClr val="2998E3"/>
      </a:hlink>
      <a:folHlink>
        <a:srgbClr val="939393"/>
      </a:folHlink>
    </a:clrScheme>
    <a:fontScheme name="Gestalt">
      <a:majorFont>
        <a:latin typeface="Bierstadt"/>
        <a:ea typeface=""/>
        <a:cs typeface=""/>
      </a:majorFont>
      <a:minorFont>
        <a:latin typeface="Bierstad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GestaltVTI" id="{4F87C71D-53D1-4B71-BF97-FD0EA4B25665}" vid="{A110AFC4-8D8A-4C02-8885-7BA370B379B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451</TotalTime>
  <Words>327</Words>
  <Application>Microsoft Office PowerPoint</Application>
  <PresentationFormat>Widescreen</PresentationFormat>
  <Paragraphs>73</Paragraphs>
  <Slides>16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Aptos</vt:lpstr>
      <vt:lpstr>Arial</vt:lpstr>
      <vt:lpstr>Bierstadt</vt:lpstr>
      <vt:lpstr>GestaltVTI</vt:lpstr>
      <vt:lpstr>HPC MC1</vt:lpstr>
      <vt:lpstr>Problem Statement</vt:lpstr>
      <vt:lpstr>Application: Stock news trend tracker</vt:lpstr>
      <vt:lpstr>Part 2: Consumer Group</vt:lpstr>
      <vt:lpstr>Part 2: Partition &amp; Replication factors</vt:lpstr>
      <vt:lpstr>Part 3: RabbitMQ</vt:lpstr>
      <vt:lpstr>RabbitMQ vs Kafka - Similarities</vt:lpstr>
      <vt:lpstr>RabbitMQ vs Kafka - Differences</vt:lpstr>
      <vt:lpstr>RabbitMQ vs Kafka - Scalability</vt:lpstr>
      <vt:lpstr>Part 4: Wall time per iteration (producer)</vt:lpstr>
      <vt:lpstr>Part 4: Kafka cProfile</vt:lpstr>
      <vt:lpstr>Part 4: RabbitMQ cProfile </vt:lpstr>
      <vt:lpstr>Part 4: Deserialization only</vt:lpstr>
      <vt:lpstr>Part 4: Consumer latency</vt:lpstr>
      <vt:lpstr>Part 5 - End-to-End Latency</vt:lpstr>
      <vt:lpstr>Part 5 - End-to-End Latency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Shwetav Behera</dc:creator>
  <cp:lastModifiedBy>Shwetav Behera</cp:lastModifiedBy>
  <cp:revision>1</cp:revision>
  <dcterms:created xsi:type="dcterms:W3CDTF">2026-04-21T03:22:27Z</dcterms:created>
  <dcterms:modified xsi:type="dcterms:W3CDTF">2026-04-21T10:54:21Z</dcterms:modified>
</cp:coreProperties>
</file>